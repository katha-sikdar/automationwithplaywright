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a7dc46c4-ce20-b4a0-1bea-f460971a10ba}">
          <p14:sldIdLst>
            <p14:sldId id="256"/>
            <p14:sldId id="257"/>
            <p14:sldId id="258"/>
            <p14:sldId id="259"/>
            <p14:sldId id="260"/>
          </p14:sldIdLst>
        </p14:section>
        <p14:section name="Building Your CV" id="{49510f5c-b92f-18e4-5347-e1d01331fe59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Getting Shortlisted" id="{11f37728-30f9-3741-d298-29dbdba15552}">
          <p14:sldIdLst>
            <p14:sldId id="269"/>
            <p14:sldId id="270"/>
            <p14:sldId id="271"/>
            <p14:sldId id="272"/>
          </p14:sldIdLst>
        </p14:section>
        <p14:section name="Wrap-up" id="{bb096ce5-fe41-e84f-a2c4-b5b7e4a906b8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Introduce the session: practical, fresher-focused CV writing. Thank BugBoundQA.com for organizing.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personal intro: current role, deployment at MetLife Bangladesh, and why CVs matter from the QA hiring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Recruiters skim before they read. The first third of page one decides whether they keep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Bangladesh people say 'CV' but most IT companies actually want a resume. Never send a biodata for a software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matters: put your strongest evidence near the top. For freshers, projects usually beat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details like religion or family names add no value for an IT job and can invite bias. Keep the header to contact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Formula: who you are + proof (numbers, tools, certifications) + the role you want. Keep it to 2 to 3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is for an SQA fresher; swap groups for your own field. Avoid skill bars and percentages: '80% Java' means nothing to a recruiter.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verbs: designed, executed, automated, reported, reduced, improved, built, led. No numbers? Use scope: how many test cases, users, modules,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project, write: name, one-line description, your role, tools, and a measurable outcome. Link the repo or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it yourself: copy-paste your PDF into a plain text editor. If the text comes out jumbled, an ATS will struggle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gBoundQA logo" descr="BugBoundQ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951561" cy="10515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75895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69080"/>
            <a:ext cx="7589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gBoundQA logo" descr="BugBoundQ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715000"/>
            <a:ext cx="1272757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gBoundQA logo" descr="BugBoundQ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2608" y="320040"/>
            <a:ext cx="1357607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BugBoundQA.com  ·  CV Writing for Freshers &amp; Job Seekers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92024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CV Writing for Freshers &amp; Job Seekers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4069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Write a CV that gets you shortlisted</a:t>
            </a:r>
            <a:endParaRPr lang="en-US" sz="2000" dirty="0"/>
          </a:p>
        </p:txBody>
      </p:sp>
      <p:sp>
        <p:nvSpPr>
          <p:cNvPr id="4" name="Speaker"/>
          <p:cNvSpPr txBox="1"/>
          <p:nvPr/>
        </p:nvSpPr>
        <p:spPr>
          <a:xfrm>
            <a:off x="548640" y="4892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Speaker: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Jannatul Ferdous Katha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SQA Engineer, ADN Diginet Ltd. (Deployed at MetLife Bangladesh)</a:t>
            </a:r>
            <a:endParaRPr lang="en-US" sz="1600" dirty="0"/>
          </a:p>
        </p:txBody>
      </p:sp>
      <p:sp>
        <p:nvSpPr>
          <p:cNvPr id="5" name="Organizer"/>
          <p:cNvSpPr txBox="1"/>
          <p:nvPr/>
        </p:nvSpPr>
        <p:spPr>
          <a:xfrm>
            <a:off x="54864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Online Session  ·  Organized by BugBoundQA.com</a:t>
            </a:r>
            <a:endParaRPr lang="en-US" sz="1400" dirty="0"/>
          </a:p>
        </p:txBody>
      </p:sp>
      <p:sp>
        <p:nvSpPr>
          <p:cNvPr id="6" name="Photo ring"/>
          <p:cNvSpPr/>
          <p:nvPr/>
        </p:nvSpPr>
        <p:spPr>
          <a:xfrm>
            <a:off x="8366760" y="1234440"/>
            <a:ext cx="3474720" cy="34747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Speaker photo" descr="Jannatul Ferdous Kat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About the Speaker</a:t>
            </a:r>
            <a:endParaRPr lang="en-US" sz="3600" dirty="0"/>
          </a:p>
        </p:txBody>
      </p:sp>
      <p:sp>
        <p:nvSpPr>
          <p:cNvPr id="3" name="Speaker card"/>
          <p:cNvSpPr/>
          <p:nvPr/>
        </p:nvSpPr>
        <p:spPr>
          <a:xfrm>
            <a:off x="548640" y="1508760"/>
            <a:ext cx="11091672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" name="Photo ring"/>
          <p:cNvSpPr/>
          <p:nvPr/>
        </p:nvSpPr>
        <p:spPr>
          <a:xfrm>
            <a:off x="1051560" y="2011680"/>
            <a:ext cx="2651760" cy="2651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peaker photo" descr="Jannatul Ferdous Kat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21408"/>
            <a:ext cx="2432304" cy="24323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0" y="21031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Jannatul Ferdous Katha</a:t>
            </a:r>
            <a:endParaRPr lang="en-US" sz="3200" dirty="0"/>
          </a:p>
        </p:txBody>
      </p:sp>
      <p:sp>
        <p:nvSpPr>
          <p:cNvPr id="7" name="SQA Engineer, ADN Diginet Ltd. circle"/>
          <p:cNvSpPr/>
          <p:nvPr/>
        </p:nvSpPr>
        <p:spPr>
          <a:xfrm>
            <a:off x="4114800" y="3017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SQA Engineer, ADN Diginet Ltd. icon" descr="SQA Engineer, ADN Diginet Lt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530" y="31432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00600" y="3017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SQA Engineer, ADN Diginet Ltd.</a:t>
            </a:r>
            <a:endParaRPr lang="en-US" sz="1800" dirty="0"/>
          </a:p>
        </p:txBody>
      </p:sp>
      <p:sp>
        <p:nvSpPr>
          <p:cNvPr id="10" name="Deployed at MetLife Bangladesh circle"/>
          <p:cNvSpPr/>
          <p:nvPr/>
        </p:nvSpPr>
        <p:spPr>
          <a:xfrm>
            <a:off x="4114800" y="3794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Deployed at MetLife Bangladesh icon" descr="Deployed at MetLife Banglade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530" y="392049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00600" y="3794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Deployed at MetLife Bangladesh</a:t>
            </a:r>
            <a:endParaRPr lang="en-US" sz="1800" dirty="0"/>
          </a:p>
        </p:txBody>
      </p:sp>
      <p:sp>
        <p:nvSpPr>
          <p:cNvPr id="13" name="Manual and automation testing (Playwright) circle"/>
          <p:cNvSpPr/>
          <p:nvPr/>
        </p:nvSpPr>
        <p:spPr>
          <a:xfrm>
            <a:off x="4114800" y="4572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Manual and automation testing (Playwright) icon" descr="Manual and automation testing (Playwright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30" y="469773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00600" y="4572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Manual and automation testing (Playwright)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Today's Agenda</a:t>
            </a:r>
            <a:endParaRPr lang="en-US" sz="3600" dirty="0"/>
          </a:p>
        </p:txBody>
      </p:sp>
      <p:sp>
        <p:nvSpPr>
          <p:cNvPr id="3" name="Agenda 1"/>
          <p:cNvSpPr/>
          <p:nvPr/>
        </p:nvSpPr>
        <p:spPr>
          <a:xfrm>
            <a:off x="548640" y="160020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" name="Agenda num 1"/>
          <p:cNvSpPr/>
          <p:nvPr/>
        </p:nvSpPr>
        <p:spPr>
          <a:xfrm>
            <a:off x="73152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00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Why your CV matters</a:t>
            </a:r>
            <a:endParaRPr lang="en-US" sz="1800" dirty="0"/>
          </a:p>
        </p:txBody>
      </p:sp>
      <p:sp>
        <p:nvSpPr>
          <p:cNvPr id="7" name="Agenda 2"/>
          <p:cNvSpPr/>
          <p:nvPr/>
        </p:nvSpPr>
        <p:spPr>
          <a:xfrm>
            <a:off x="548640" y="269748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8" name="Agenda num 2"/>
          <p:cNvSpPr/>
          <p:nvPr/>
        </p:nvSpPr>
        <p:spPr>
          <a:xfrm>
            <a:off x="731520" y="2834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97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CV vs Resume vs Biodata</a:t>
            </a:r>
            <a:endParaRPr lang="en-US" sz="1800" dirty="0"/>
          </a:p>
        </p:txBody>
      </p:sp>
      <p:sp>
        <p:nvSpPr>
          <p:cNvPr id="11" name="Agenda 3"/>
          <p:cNvSpPr/>
          <p:nvPr/>
        </p:nvSpPr>
        <p:spPr>
          <a:xfrm>
            <a:off x="548640" y="379476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2" name="Agenda num 3"/>
          <p:cNvSpPr/>
          <p:nvPr/>
        </p:nvSpPr>
        <p:spPr>
          <a:xfrm>
            <a:off x="731520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794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ideal fresher CV structure</a:t>
            </a:r>
            <a:endParaRPr lang="en-US" sz="1800" dirty="0"/>
          </a:p>
        </p:txBody>
      </p:sp>
      <p:sp>
        <p:nvSpPr>
          <p:cNvPr id="15" name="Agenda 4"/>
          <p:cNvSpPr/>
          <p:nvPr/>
        </p:nvSpPr>
        <p:spPr>
          <a:xfrm>
            <a:off x="548640" y="489204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6" name="Agenda num 4"/>
          <p:cNvSpPr/>
          <p:nvPr/>
        </p:nvSpPr>
        <p:spPr>
          <a:xfrm>
            <a:off x="731520" y="50292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920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Header, summary and skills</a:t>
            </a:r>
            <a:endParaRPr lang="en-US" sz="1800" dirty="0"/>
          </a:p>
        </p:txBody>
      </p:sp>
      <p:sp>
        <p:nvSpPr>
          <p:cNvPr id="19" name="Agenda 5"/>
          <p:cNvSpPr/>
          <p:nvPr/>
        </p:nvSpPr>
        <p:spPr>
          <a:xfrm>
            <a:off x="6217920" y="160020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0" name="Agenda num 5"/>
          <p:cNvSpPr/>
          <p:nvPr/>
        </p:nvSpPr>
        <p:spPr>
          <a:xfrm>
            <a:off x="640080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1600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Writing strong bullet points</a:t>
            </a:r>
            <a:endParaRPr lang="en-US" sz="1800" dirty="0"/>
          </a:p>
        </p:txBody>
      </p:sp>
      <p:sp>
        <p:nvSpPr>
          <p:cNvPr id="23" name="Agenda 6"/>
          <p:cNvSpPr/>
          <p:nvPr/>
        </p:nvSpPr>
        <p:spPr>
          <a:xfrm>
            <a:off x="6217920" y="269748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4" name="Agenda num 6"/>
          <p:cNvSpPr/>
          <p:nvPr/>
        </p:nvSpPr>
        <p:spPr>
          <a:xfrm>
            <a:off x="6400800" y="2834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697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Beating ATS filters</a:t>
            </a:r>
            <a:endParaRPr lang="en-US" sz="1800" dirty="0"/>
          </a:p>
        </p:txBody>
      </p:sp>
      <p:sp>
        <p:nvSpPr>
          <p:cNvPr id="27" name="Agenda 7"/>
          <p:cNvSpPr/>
          <p:nvPr/>
        </p:nvSpPr>
        <p:spPr>
          <a:xfrm>
            <a:off x="6217920" y="379476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8" name="Agenda num 7"/>
          <p:cNvSpPr/>
          <p:nvPr/>
        </p:nvSpPr>
        <p:spPr>
          <a:xfrm>
            <a:off x="6400800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3794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Common mistakes to avoid</a:t>
            </a:r>
            <a:endParaRPr lang="en-US" sz="1800" dirty="0"/>
          </a:p>
        </p:txBody>
      </p:sp>
      <p:sp>
        <p:nvSpPr>
          <p:cNvPr id="31" name="Agenda 8"/>
          <p:cNvSpPr/>
          <p:nvPr/>
        </p:nvSpPr>
        <p:spPr>
          <a:xfrm>
            <a:off x="6217920" y="4892040"/>
            <a:ext cx="5394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32" name="Agenda num 8"/>
          <p:cNvSpPr/>
          <p:nvPr/>
        </p:nvSpPr>
        <p:spPr>
          <a:xfrm>
            <a:off x="6400800" y="50292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48920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Final checklist and Q&amp;A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Your CV Has Seconds to Make an Impression</a:t>
            </a:r>
            <a:endParaRPr lang="en-US" sz="3600" dirty="0"/>
          </a:p>
        </p:txBody>
      </p:sp>
      <p:sp>
        <p:nvSpPr>
          <p:cNvPr id="3" name="Stat 7.4 sec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" name="7.4 sec circle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7.4 sec icon" descr="7.4 s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0231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 sec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840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Average time a recruiter spends on a first scan of a CV*</a:t>
            </a:r>
            <a:endParaRPr lang="en-US" sz="1600" dirty="0"/>
          </a:p>
        </p:txBody>
      </p:sp>
      <p:sp>
        <p:nvSpPr>
          <p:cNvPr id="8" name="Stat 1 page"/>
          <p:cNvSpPr/>
          <p:nvPr/>
        </p:nvSpPr>
        <p:spPr>
          <a:xfrm>
            <a:off x="4370832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9" name="1 page circle"/>
          <p:cNvSpPr/>
          <p:nvPr/>
        </p:nvSpPr>
        <p:spPr>
          <a:xfrm>
            <a:off x="4690872" y="182880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1 page icon" descr="1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202311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90872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page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4690872" y="3840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Ideal length for a fresher. Two pages only with real experience</a:t>
            </a:r>
            <a:endParaRPr lang="en-US" sz="1600" dirty="0"/>
          </a:p>
        </p:txBody>
      </p:sp>
      <p:sp>
        <p:nvSpPr>
          <p:cNvPr id="13" name="Stat 1 CV : 1 job"/>
          <p:cNvSpPr/>
          <p:nvPr/>
        </p:nvSpPr>
        <p:spPr>
          <a:xfrm>
            <a:off x="8193024" y="155448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4" name="1 CV : 1 job circle"/>
          <p:cNvSpPr/>
          <p:nvPr/>
        </p:nvSpPr>
        <p:spPr>
          <a:xfrm>
            <a:off x="8513064" y="1828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1 CV : 1 job icon" descr="1 CV : 1 jo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374" y="202311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13064" y="2834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CV : 1 job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8513064" y="3840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Tailor your CV for every application, never mass-send one copy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*Ladders eye-tracking study (2018)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CV vs Resume vs Biodata</a:t>
            </a:r>
            <a:endParaRPr lang="en-US" sz="3600" dirty="0"/>
          </a:p>
        </p:txBody>
      </p:sp>
      <p:sp>
        <p:nvSpPr>
          <p:cNvPr id="3" name="Resume card"/>
          <p:cNvSpPr/>
          <p:nvPr/>
        </p:nvSpPr>
        <p:spPr>
          <a:xfrm>
            <a:off x="548640" y="1554480"/>
            <a:ext cx="3520440" cy="41605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" name="Resume header"/>
          <p:cNvSpPr/>
          <p:nvPr/>
        </p:nvSpPr>
        <p:spPr>
          <a:xfrm>
            <a:off x="822960" y="1783080"/>
            <a:ext cx="297180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Length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1 to 2 pages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Contains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Focused on skills and results for one specific job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Used for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Most private-sector and IT jobs</a:t>
            </a:r>
            <a:endParaRPr lang="en-US" sz="1600" dirty="0"/>
          </a:p>
        </p:txBody>
      </p:sp>
      <p:sp>
        <p:nvSpPr>
          <p:cNvPr id="7" name="CV card"/>
          <p:cNvSpPr/>
          <p:nvPr/>
        </p:nvSpPr>
        <p:spPr>
          <a:xfrm>
            <a:off x="4370832" y="1554480"/>
            <a:ext cx="3520440" cy="41605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8" name="CV header"/>
          <p:cNvSpPr/>
          <p:nvPr/>
        </p:nvSpPr>
        <p:spPr>
          <a:xfrm>
            <a:off x="4645152" y="1783080"/>
            <a:ext cx="297180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45152" y="1783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26974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Length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2+ pages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Contains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Full academic and professional history, publications, research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Used for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Academia, research, higher studies, some abroad roles</a:t>
            </a:r>
            <a:endParaRPr lang="en-US" sz="1600" dirty="0"/>
          </a:p>
        </p:txBody>
      </p:sp>
      <p:sp>
        <p:nvSpPr>
          <p:cNvPr id="11" name="Biodata card"/>
          <p:cNvSpPr/>
          <p:nvPr/>
        </p:nvSpPr>
        <p:spPr>
          <a:xfrm>
            <a:off x="8193024" y="1554480"/>
            <a:ext cx="3520440" cy="41605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2" name="Biodata header"/>
          <p:cNvSpPr/>
          <p:nvPr/>
        </p:nvSpPr>
        <p:spPr>
          <a:xfrm>
            <a:off x="8467344" y="1783080"/>
            <a:ext cx="2971800" cy="68580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67344" y="1783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Biodata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26974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Length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1 to 2 pages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Contains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Personal details: date of birth, family, religion, address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Used for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Some government jobs and matrimony. Not for IT jobs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Building Your CV, Section by Section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Structure, header, summary, skills, projects and education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Ideal Fresher CV Structure</a:t>
            </a:r>
            <a:endParaRPr lang="en-US" sz="3600" dirty="0"/>
          </a:p>
        </p:txBody>
      </p:sp>
      <p:sp>
        <p:nvSpPr>
          <p:cNvPr id="3" name="Header card"/>
          <p:cNvSpPr/>
          <p:nvPr/>
        </p:nvSpPr>
        <p:spPr>
          <a:xfrm>
            <a:off x="548640" y="155448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Header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700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Name, phone, email, LinkedIn, GitHub, city</a:t>
            </a:r>
            <a:endParaRPr lang="en-US" sz="1400" dirty="0"/>
          </a:p>
        </p:txBody>
      </p:sp>
      <p:sp>
        <p:nvSpPr>
          <p:cNvPr id="7" name="Summary card"/>
          <p:cNvSpPr/>
          <p:nvPr/>
        </p:nvSpPr>
        <p:spPr>
          <a:xfrm>
            <a:off x="3383280" y="155448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Summary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6700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 to 3 lines: who you are and what you offer</a:t>
            </a:r>
            <a:endParaRPr lang="en-US" sz="1400" dirty="0"/>
          </a:p>
        </p:txBody>
      </p:sp>
      <p:sp>
        <p:nvSpPr>
          <p:cNvPr id="11" name="Skills card"/>
          <p:cNvSpPr/>
          <p:nvPr/>
        </p:nvSpPr>
        <p:spPr>
          <a:xfrm>
            <a:off x="6217920" y="155448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Skills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6700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Grouped technical skills, tools, soft skills</a:t>
            </a:r>
            <a:endParaRPr lang="en-US" sz="1400" dirty="0"/>
          </a:p>
        </p:txBody>
      </p:sp>
      <p:sp>
        <p:nvSpPr>
          <p:cNvPr id="15" name="Projects card"/>
          <p:cNvSpPr/>
          <p:nvPr/>
        </p:nvSpPr>
        <p:spPr>
          <a:xfrm>
            <a:off x="9052560" y="155448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8116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Projects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6700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Your strongest proof as a fresher</a:t>
            </a:r>
            <a:endParaRPr lang="en-US" sz="1400" dirty="0"/>
          </a:p>
        </p:txBody>
      </p:sp>
      <p:sp>
        <p:nvSpPr>
          <p:cNvPr id="19" name="Experience card"/>
          <p:cNvSpPr/>
          <p:nvPr/>
        </p:nvSpPr>
        <p:spPr>
          <a:xfrm>
            <a:off x="548640" y="37490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Experience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64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Internships, part-time, freelance, volunteering</a:t>
            </a:r>
            <a:endParaRPr lang="en-US" sz="1400" dirty="0"/>
          </a:p>
        </p:txBody>
      </p:sp>
      <p:sp>
        <p:nvSpPr>
          <p:cNvPr id="23" name="Education card"/>
          <p:cNvSpPr/>
          <p:nvPr/>
        </p:nvSpPr>
        <p:spPr>
          <a:xfrm>
            <a:off x="3383280" y="37490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61188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Education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4864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Degree, institution, year, CGPA if good</a:t>
            </a:r>
            <a:endParaRPr lang="en-US" sz="1400" dirty="0"/>
          </a:p>
        </p:txBody>
      </p:sp>
      <p:sp>
        <p:nvSpPr>
          <p:cNvPr id="27" name="Certifications card"/>
          <p:cNvSpPr/>
          <p:nvPr/>
        </p:nvSpPr>
        <p:spPr>
          <a:xfrm>
            <a:off x="6217920" y="37490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4652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Certifications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864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ISTQB, online courses, trainings</a:t>
            </a:r>
            <a:endParaRPr lang="en-US" sz="1400" dirty="0"/>
          </a:p>
        </p:txBody>
      </p:sp>
      <p:sp>
        <p:nvSpPr>
          <p:cNvPr id="31" name="Extras card"/>
          <p:cNvSpPr/>
          <p:nvPr/>
        </p:nvSpPr>
        <p:spPr>
          <a:xfrm>
            <a:off x="9052560" y="37490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28116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928116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Extras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281160" y="4864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Awards, contests, clubs, languages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Header: Make It Easy to Contact You</a:t>
            </a:r>
            <a:endParaRPr lang="en-US" sz="3600" dirty="0"/>
          </a:p>
        </p:txBody>
      </p:sp>
      <p:sp>
        <p:nvSpPr>
          <p:cNvPr id="3" name="Do include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" name="Do include circle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Do include icon" descr="Do inclu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Do include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Full name in a larger font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phone number you always answer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Professional email: firstname.lastname@gmail.com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LinkedIn and GitHub / portfolio links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City only (e.g. Dhaka, Bangladesh)</a:t>
            </a:r>
            <a:endParaRPr lang="en-US" sz="1800" dirty="0"/>
          </a:p>
        </p:txBody>
      </p:sp>
      <p:sp>
        <p:nvSpPr>
          <p:cNvPr id="8" name="Leave out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9" name="Leave out circle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Leave out icon" descr="Leave o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20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Leave out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6060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Funny emails like cutebaby123@...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Father's / mother's name, religion, NID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Marital status, height, weight, blood group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Full home address with house number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Photo, unless the job post asks for 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Generic Objective to Strong Summary</a:t>
            </a:r>
            <a:endParaRPr lang="en-US" sz="3600" dirty="0"/>
          </a:p>
        </p:txBody>
      </p:sp>
      <p:sp>
        <p:nvSpPr>
          <p:cNvPr id="3" name="Weak summary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" name="Weak circle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Weak icon" descr="Wea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Weak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</a:rPr>
              <a:t>“Seeking a challenging position in a reputed organization where I can utilize my skills and grow with the company.”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Generic, about you, could be anyone</a:t>
            </a:r>
            <a:endParaRPr lang="en-US" sz="1400" dirty="0"/>
          </a:p>
        </p:txBody>
      </p:sp>
      <p:sp>
        <p:nvSpPr>
          <p:cNvPr id="9" name="Strong summary"/>
          <p:cNvSpPr/>
          <p:nvPr/>
        </p:nvSpPr>
        <p:spPr>
          <a:xfrm>
            <a:off x="6245352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0" name="Strong circle"/>
          <p:cNvSpPr/>
          <p:nvPr/>
        </p:nvSpPr>
        <p:spPr>
          <a:xfrm>
            <a:off x="6519672" y="1783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Strong icon" descr="Stro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51192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Strong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65392" y="2606040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“CSE graduate and ISTQB CTFL-certified QA enthusiast. Wrote 150+ test cases and automated 40 UI tests with Playwright across 3 academic projects. Looking to join a product team as a Junior SQA Engineer.”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565392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Specific, proven, aimed at the role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Skills: Group Them, Don't Dump Them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Testing Skills</a:t>
            </a:r>
            <a:endParaRPr lang="en-US" sz="2200" dirty="0"/>
          </a:p>
        </p:txBody>
      </p:sp>
      <p:sp>
        <p:nvSpPr>
          <p:cNvPr id="4" name="Chip Manual testing"/>
          <p:cNvSpPr/>
          <p:nvPr/>
        </p:nvSpPr>
        <p:spPr>
          <a:xfrm>
            <a:off x="548640" y="219456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Manual testing</a:t>
            </a:r>
            <a:endParaRPr lang="en-US" sz="1300" dirty="0"/>
          </a:p>
        </p:txBody>
      </p:sp>
      <p:sp>
        <p:nvSpPr>
          <p:cNvPr id="6" name="Chip Test case design"/>
          <p:cNvSpPr/>
          <p:nvPr/>
        </p:nvSpPr>
        <p:spPr>
          <a:xfrm>
            <a:off x="2331720" y="219456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 case design</a:t>
            </a:r>
            <a:endParaRPr lang="en-US" sz="1300" dirty="0"/>
          </a:p>
        </p:txBody>
      </p:sp>
      <p:sp>
        <p:nvSpPr>
          <p:cNvPr id="8" name="Chip Bug reporting"/>
          <p:cNvSpPr/>
          <p:nvPr/>
        </p:nvSpPr>
        <p:spPr>
          <a:xfrm>
            <a:off x="548640" y="297180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Bug reporting</a:t>
            </a:r>
            <a:endParaRPr lang="en-US" sz="1300" dirty="0"/>
          </a:p>
        </p:txBody>
      </p:sp>
      <p:sp>
        <p:nvSpPr>
          <p:cNvPr id="10" name="Chip API testing"/>
          <p:cNvSpPr/>
          <p:nvPr/>
        </p:nvSpPr>
        <p:spPr>
          <a:xfrm>
            <a:off x="2331720" y="297180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API testing</a:t>
            </a:r>
            <a:endParaRPr lang="en-US" sz="1300" dirty="0"/>
          </a:p>
        </p:txBody>
      </p:sp>
      <p:sp>
        <p:nvSpPr>
          <p:cNvPr id="12" name="Chip Regression testing"/>
          <p:cNvSpPr/>
          <p:nvPr/>
        </p:nvSpPr>
        <p:spPr>
          <a:xfrm>
            <a:off x="548640" y="374904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Regression testing</a:t>
            </a:r>
            <a:endParaRPr lang="en-US" sz="1300" dirty="0"/>
          </a:p>
        </p:txBody>
      </p:sp>
      <p:sp>
        <p:nvSpPr>
          <p:cNvPr id="14" name="Chip SDLC / STLC"/>
          <p:cNvSpPr/>
          <p:nvPr/>
        </p:nvSpPr>
        <p:spPr>
          <a:xfrm>
            <a:off x="2331720" y="374904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31720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SDLC / STLC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70832" y="1554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Tools &amp; Tech</a:t>
            </a:r>
            <a:endParaRPr lang="en-US" sz="2200" dirty="0"/>
          </a:p>
        </p:txBody>
      </p:sp>
      <p:sp>
        <p:nvSpPr>
          <p:cNvPr id="17" name="Chip JIRA"/>
          <p:cNvSpPr/>
          <p:nvPr/>
        </p:nvSpPr>
        <p:spPr>
          <a:xfrm>
            <a:off x="4370832" y="219456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70832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JIRA</a:t>
            </a:r>
            <a:endParaRPr lang="en-US" sz="1300" dirty="0"/>
          </a:p>
        </p:txBody>
      </p:sp>
      <p:sp>
        <p:nvSpPr>
          <p:cNvPr id="19" name="Chip Postman"/>
          <p:cNvSpPr/>
          <p:nvPr/>
        </p:nvSpPr>
        <p:spPr>
          <a:xfrm>
            <a:off x="6153912" y="219456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53912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Postman</a:t>
            </a:r>
            <a:endParaRPr lang="en-US" sz="1300" dirty="0"/>
          </a:p>
        </p:txBody>
      </p:sp>
      <p:sp>
        <p:nvSpPr>
          <p:cNvPr id="21" name="Chip Playwright"/>
          <p:cNvSpPr/>
          <p:nvPr/>
        </p:nvSpPr>
        <p:spPr>
          <a:xfrm>
            <a:off x="4370832" y="297180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70832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Playwright</a:t>
            </a:r>
            <a:endParaRPr lang="en-US" sz="1300" dirty="0"/>
          </a:p>
        </p:txBody>
      </p:sp>
      <p:sp>
        <p:nvSpPr>
          <p:cNvPr id="23" name="Chip Selenium"/>
          <p:cNvSpPr/>
          <p:nvPr/>
        </p:nvSpPr>
        <p:spPr>
          <a:xfrm>
            <a:off x="6153912" y="297180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53912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Selenium</a:t>
            </a:r>
            <a:endParaRPr lang="en-US" sz="1300" dirty="0"/>
          </a:p>
        </p:txBody>
      </p:sp>
      <p:sp>
        <p:nvSpPr>
          <p:cNvPr id="25" name="Chip SQL"/>
          <p:cNvSpPr/>
          <p:nvPr/>
        </p:nvSpPr>
        <p:spPr>
          <a:xfrm>
            <a:off x="4370832" y="374904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70832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</a:t>
            </a:r>
            <a:endParaRPr lang="en-US" sz="1300" dirty="0"/>
          </a:p>
        </p:txBody>
      </p:sp>
      <p:sp>
        <p:nvSpPr>
          <p:cNvPr id="27" name="Chip Git &amp; GitHub"/>
          <p:cNvSpPr/>
          <p:nvPr/>
        </p:nvSpPr>
        <p:spPr>
          <a:xfrm>
            <a:off x="6153912" y="374904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53912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Git &amp; GitHub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193024" y="1554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Soft Skills</a:t>
            </a:r>
            <a:endParaRPr lang="en-US" sz="2200" dirty="0"/>
          </a:p>
        </p:txBody>
      </p:sp>
      <p:sp>
        <p:nvSpPr>
          <p:cNvPr id="30" name="Chip Communication"/>
          <p:cNvSpPr/>
          <p:nvPr/>
        </p:nvSpPr>
        <p:spPr>
          <a:xfrm>
            <a:off x="8193024" y="219456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93024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Communication</a:t>
            </a:r>
            <a:endParaRPr lang="en-US" sz="1300" dirty="0"/>
          </a:p>
        </p:txBody>
      </p:sp>
      <p:sp>
        <p:nvSpPr>
          <p:cNvPr id="32" name="Chip Attention to detail"/>
          <p:cNvSpPr/>
          <p:nvPr/>
        </p:nvSpPr>
        <p:spPr>
          <a:xfrm>
            <a:off x="9976104" y="219456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76104" y="21945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Attention to detail</a:t>
            </a:r>
            <a:endParaRPr lang="en-US" sz="1300" dirty="0"/>
          </a:p>
        </p:txBody>
      </p:sp>
      <p:sp>
        <p:nvSpPr>
          <p:cNvPr id="34" name="Chip Teamwork"/>
          <p:cNvSpPr/>
          <p:nvPr/>
        </p:nvSpPr>
        <p:spPr>
          <a:xfrm>
            <a:off x="8193024" y="297180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93024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Teamwork</a:t>
            </a:r>
            <a:endParaRPr lang="en-US" sz="1300" dirty="0"/>
          </a:p>
        </p:txBody>
      </p:sp>
      <p:sp>
        <p:nvSpPr>
          <p:cNvPr id="36" name="Chip Time management"/>
          <p:cNvSpPr/>
          <p:nvPr/>
        </p:nvSpPr>
        <p:spPr>
          <a:xfrm>
            <a:off x="9976104" y="297180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76104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Time management</a:t>
            </a:r>
            <a:endParaRPr lang="en-US" sz="1300" dirty="0"/>
          </a:p>
        </p:txBody>
      </p:sp>
      <p:sp>
        <p:nvSpPr>
          <p:cNvPr id="38" name="Chip Problem solving"/>
          <p:cNvSpPr/>
          <p:nvPr/>
        </p:nvSpPr>
        <p:spPr>
          <a:xfrm>
            <a:off x="8193024" y="374904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93024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Problem solving</a:t>
            </a:r>
            <a:endParaRPr lang="en-US" sz="1300" dirty="0"/>
          </a:p>
        </p:txBody>
      </p:sp>
      <p:sp>
        <p:nvSpPr>
          <p:cNvPr id="40" name="Chip Curiosity"/>
          <p:cNvSpPr/>
          <p:nvPr/>
        </p:nvSpPr>
        <p:spPr>
          <a:xfrm>
            <a:off x="9976104" y="374904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976104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Curiosity</a:t>
            </a:r>
            <a:endParaRPr lang="en-US" sz="1300" dirty="0"/>
          </a:p>
        </p:txBody>
      </p:sp>
      <p:sp>
        <p:nvSpPr>
          <p:cNvPr id="42" name="Skills tip"/>
          <p:cNvSpPr/>
          <p:nvPr/>
        </p:nvSpPr>
        <p:spPr>
          <a:xfrm>
            <a:off x="548640" y="475488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Tip: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 only skills you can discuss in an interview. Every skill on your CV is a possible interview question.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Write Bullet Points That Prove Impact</a:t>
            </a:r>
            <a:endParaRPr lang="en-US" sz="3600" dirty="0"/>
          </a:p>
        </p:txBody>
      </p:sp>
      <p:sp>
        <p:nvSpPr>
          <p:cNvPr id="3" name="Formula Action verb"/>
          <p:cNvSpPr/>
          <p:nvPr/>
        </p:nvSpPr>
        <p:spPr>
          <a:xfrm>
            <a:off x="548640" y="155448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Action verb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554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+</a:t>
            </a:r>
            <a:endParaRPr lang="en-US" sz="2800" dirty="0"/>
          </a:p>
        </p:txBody>
      </p:sp>
      <p:sp>
        <p:nvSpPr>
          <p:cNvPr id="6" name="Formula What you did"/>
          <p:cNvSpPr/>
          <p:nvPr/>
        </p:nvSpPr>
        <p:spPr>
          <a:xfrm>
            <a:off x="3383280" y="155448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you did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+</a:t>
            </a:r>
            <a:endParaRPr lang="en-US" sz="2800" dirty="0"/>
          </a:p>
        </p:txBody>
      </p:sp>
      <p:sp>
        <p:nvSpPr>
          <p:cNvPr id="9" name="Formula Tool / method"/>
          <p:cNvSpPr/>
          <p:nvPr/>
        </p:nvSpPr>
        <p:spPr>
          <a:xfrm>
            <a:off x="6217920" y="155448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Tool / method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1554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+</a:t>
            </a:r>
            <a:endParaRPr lang="en-US" sz="2800" dirty="0"/>
          </a:p>
        </p:txBody>
      </p:sp>
      <p:sp>
        <p:nvSpPr>
          <p:cNvPr id="12" name="Formula Result + number"/>
          <p:cNvSpPr/>
          <p:nvPr/>
        </p:nvSpPr>
        <p:spPr>
          <a:xfrm>
            <a:off x="9052560" y="155448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Result + number</a:t>
            </a:r>
            <a:endParaRPr lang="en-US" sz="1800" dirty="0"/>
          </a:p>
        </p:txBody>
      </p:sp>
      <p:sp>
        <p:nvSpPr>
          <p:cNvPr id="14" name="Before 1"/>
          <p:cNvSpPr/>
          <p:nvPr/>
        </p:nvSpPr>
        <p:spPr>
          <a:xfrm>
            <a:off x="548640" y="2743200"/>
            <a:ext cx="3840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2880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Before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Did testing of the university website.</a:t>
            </a:r>
            <a:endParaRPr lang="en-US" sz="1500" dirty="0"/>
          </a:p>
        </p:txBody>
      </p:sp>
      <p:pic>
        <p:nvPicPr>
          <p:cNvPr id="16" name="Arrow 1" descr="beco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4568" y="3200400"/>
            <a:ext cx="365760" cy="365760"/>
          </a:xfrm>
          <a:prstGeom prst="rect">
            <a:avLst/>
          </a:prstGeom>
        </p:spPr>
      </p:pic>
      <p:sp>
        <p:nvSpPr>
          <p:cNvPr id="17" name="After 1"/>
          <p:cNvSpPr/>
          <p:nvPr/>
        </p:nvSpPr>
        <p:spPr>
          <a:xfrm>
            <a:off x="5056632" y="2743200"/>
            <a:ext cx="6583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285232" y="2880360"/>
            <a:ext cx="6172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After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Executed 120 manual test cases on the university portal and reported 35 bugs in JIRA, 8 of them critical.</a:t>
            </a:r>
            <a:endParaRPr lang="en-US" sz="1500" dirty="0"/>
          </a:p>
        </p:txBody>
      </p:sp>
      <p:sp>
        <p:nvSpPr>
          <p:cNvPr id="19" name="Before 2"/>
          <p:cNvSpPr/>
          <p:nvPr/>
        </p:nvSpPr>
        <p:spPr>
          <a:xfrm>
            <a:off x="548640" y="4251960"/>
            <a:ext cx="3840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77240" y="43891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Before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Worked on automation.</a:t>
            </a:r>
            <a:endParaRPr lang="en-US" sz="1500" dirty="0"/>
          </a:p>
        </p:txBody>
      </p:sp>
      <p:pic>
        <p:nvPicPr>
          <p:cNvPr id="21" name="Arrow 2" descr="beco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4709160"/>
            <a:ext cx="365760" cy="365760"/>
          </a:xfrm>
          <a:prstGeom prst="rect">
            <a:avLst/>
          </a:prstGeom>
        </p:spPr>
      </p:pic>
      <p:sp>
        <p:nvSpPr>
          <p:cNvPr id="22" name="After 2"/>
          <p:cNvSpPr/>
          <p:nvPr/>
        </p:nvSpPr>
        <p:spPr>
          <a:xfrm>
            <a:off x="5056632" y="4251960"/>
            <a:ext cx="6583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5285232" y="4389120"/>
            <a:ext cx="6172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After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Automated 40 login and checkout scenarios with Playwright, cutting regression time from 3 hours to 20 minutes.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No Experience? Show Proof Instead</a:t>
            </a:r>
            <a:endParaRPr lang="en-US" sz="3600" dirty="0"/>
          </a:p>
        </p:txBody>
      </p:sp>
      <p:sp>
        <p:nvSpPr>
          <p:cNvPr id="3" name="Academic projects"/>
          <p:cNvSpPr/>
          <p:nvPr/>
        </p:nvSpPr>
        <p:spPr>
          <a:xfrm>
            <a:off x="548640" y="15544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" name="Academic projects circle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cademic projects icon" descr="Academic proje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Academic projects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Final-year and course projects, with your role and the tech used</a:t>
            </a:r>
            <a:endParaRPr lang="en-US" sz="1400" dirty="0"/>
          </a:p>
        </p:txBody>
      </p:sp>
      <p:sp>
        <p:nvSpPr>
          <p:cNvPr id="8" name="GitHub portfolio"/>
          <p:cNvSpPr/>
          <p:nvPr/>
        </p:nvSpPr>
        <p:spPr>
          <a:xfrm>
            <a:off x="4370832" y="15544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9" name="GitHub portfolio circle"/>
          <p:cNvSpPr/>
          <p:nvPr/>
        </p:nvSpPr>
        <p:spPr>
          <a:xfrm>
            <a:off x="4645152" y="182880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GitHub portfolio icon" descr="GitHub portfol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602" y="20002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13832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GitHub portfolio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45152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automation repos with a clear README</a:t>
            </a:r>
            <a:endParaRPr lang="en-US" sz="1400" dirty="0"/>
          </a:p>
        </p:txBody>
      </p:sp>
      <p:sp>
        <p:nvSpPr>
          <p:cNvPr id="13" name="Crowdtesting"/>
          <p:cNvSpPr/>
          <p:nvPr/>
        </p:nvSpPr>
        <p:spPr>
          <a:xfrm>
            <a:off x="8193024" y="15544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4" name="Crowdtesting circle"/>
          <p:cNvSpPr/>
          <p:nvPr/>
        </p:nvSpPr>
        <p:spPr>
          <a:xfrm>
            <a:off x="8467344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Crowdtesting icon" descr="Crowdtest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794" y="200025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36024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Crowdtesting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67344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Bugs found on uTest, Test IO or bug bounty programs</a:t>
            </a:r>
            <a:endParaRPr lang="en-US" sz="1400" dirty="0"/>
          </a:p>
        </p:txBody>
      </p:sp>
      <p:sp>
        <p:nvSpPr>
          <p:cNvPr id="18" name="Internships"/>
          <p:cNvSpPr/>
          <p:nvPr/>
        </p:nvSpPr>
        <p:spPr>
          <a:xfrm>
            <a:off x="548640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9" name="Internships circle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nternships icon" descr="Internship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19481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023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Internships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46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Even short or unpaid ones count as real experience</a:t>
            </a:r>
            <a:endParaRPr lang="en-US" sz="1400" dirty="0"/>
          </a:p>
        </p:txBody>
      </p:sp>
      <p:sp>
        <p:nvSpPr>
          <p:cNvPr id="23" name="Volunteering"/>
          <p:cNvSpPr/>
          <p:nvPr/>
        </p:nvSpPr>
        <p:spPr>
          <a:xfrm>
            <a:off x="4370832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4" name="Volunteering circle"/>
          <p:cNvSpPr/>
          <p:nvPr/>
        </p:nvSpPr>
        <p:spPr>
          <a:xfrm>
            <a:off x="4645152" y="40233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Volunteering icon" descr="Volunteer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602" y="419481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13832" y="4023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Volunteering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45152" y="4846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Club, event or community work shows teamwork and ownership</a:t>
            </a:r>
            <a:endParaRPr lang="en-US" sz="1400" dirty="0"/>
          </a:p>
        </p:txBody>
      </p:sp>
      <p:sp>
        <p:nvSpPr>
          <p:cNvPr id="28" name="Contests"/>
          <p:cNvSpPr/>
          <p:nvPr/>
        </p:nvSpPr>
        <p:spPr>
          <a:xfrm>
            <a:off x="8193024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9" name="Contests circle"/>
          <p:cNvSpPr/>
          <p:nvPr/>
        </p:nvSpPr>
        <p:spPr>
          <a:xfrm>
            <a:off x="8467344" y="4023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Contests icon" descr="Con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8794" y="419481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36024" y="4023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Contests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67344" y="4846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Hackathons, programming contests, QA challenges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Education, Certifications and Extras</a:t>
            </a:r>
            <a:endParaRPr lang="en-US" sz="3600" dirty="0"/>
          </a:p>
        </p:txBody>
      </p:sp>
      <p:sp>
        <p:nvSpPr>
          <p:cNvPr id="3" name="Education circle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Education icon" descr="Edu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Education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94767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Degree, institution, passing year. Add CGPA if it is 3.00+ (or mention it if the job asks). Skip SSC/HSC details once you have a degree, or keep them to one line.</a:t>
            </a:r>
            <a:endParaRPr lang="en-US" sz="1400" dirty="0"/>
          </a:p>
        </p:txBody>
      </p:sp>
      <p:sp>
        <p:nvSpPr>
          <p:cNvPr id="7" name="Certifications circle"/>
          <p:cNvSpPr/>
          <p:nvPr/>
        </p:nvSpPr>
        <p:spPr>
          <a:xfrm>
            <a:off x="548640" y="271576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Certifications icon" descr="Certific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9864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670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Certifications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063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ISTQB CTFL, recognised online courses (Coursera, Udemy), bootcamps. Put the issuer and year; link a credential ID if you have one.</a:t>
            </a:r>
            <a:endParaRPr lang="en-US" sz="1400" dirty="0"/>
          </a:p>
        </p:txBody>
      </p:sp>
      <p:sp>
        <p:nvSpPr>
          <p:cNvPr id="11" name="Achievements circle"/>
          <p:cNvSpPr/>
          <p:nvPr/>
        </p:nvSpPr>
        <p:spPr>
          <a:xfrm>
            <a:off x="548640" y="3831336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Achievements icon" descr="Achieve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142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7856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Achievements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178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Scholarships, dean's list, contest ranks, published papers. Quantify where you can: “Top 10 of 250 teams”.</a:t>
            </a:r>
            <a:endParaRPr lang="en-US" sz="1400" dirty="0"/>
          </a:p>
        </p:txBody>
      </p:sp>
      <p:sp>
        <p:nvSpPr>
          <p:cNvPr id="15" name="Online presence circle"/>
          <p:cNvSpPr/>
          <p:nvPr/>
        </p:nvSpPr>
        <p:spPr>
          <a:xfrm>
            <a:off x="548640" y="4946904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Online presence icon" descr="Online prese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2978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9011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Online presence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29437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LinkedIn profile that matches your CV, plus GitHub or a portfolio. Recruiters check both.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Getting Past the Screen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ATS-friendly formatting, tailoring and common mistakes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Make Your CV ATS-Friendly</a:t>
            </a:r>
            <a:endParaRPr lang="en-US" sz="3600" dirty="0"/>
          </a:p>
        </p:txBody>
      </p:sp>
      <p:sp>
        <p:nvSpPr>
          <p:cNvPr id="3" name="ATS circle"/>
          <p:cNvSpPr/>
          <p:nvPr/>
        </p:nvSpPr>
        <p:spPr>
          <a:xfrm>
            <a:off x="548640" y="155448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" name="ATS icon" descr="A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554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 Applicant Tracking System (ATS) reads your CV before a human does. If it can't parse it, nobody sees it.</a:t>
            </a:r>
            <a:endParaRPr lang="en-US" sz="1800" dirty="0"/>
          </a:p>
        </p:txBody>
      </p:sp>
      <p:sp>
        <p:nvSpPr>
          <p:cNvPr id="6" name="ATS Do"/>
          <p:cNvSpPr/>
          <p:nvPr/>
        </p:nvSpPr>
        <p:spPr>
          <a:xfrm>
            <a:off x="548640" y="2743200"/>
            <a:ext cx="53949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7" name="ATS Do circle"/>
          <p:cNvSpPr/>
          <p:nvPr/>
        </p:nvSpPr>
        <p:spPr>
          <a:xfrm>
            <a:off x="822960" y="2926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ATS Do icon" descr="ATS 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04038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Do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5661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 single-column layout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Standard headings: Skills, Education, Projects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Fonts like Calibri or Arial, 10 to 12 pt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Keywords copied from the job post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Save as PDF named Firstname_Lastname_CV.pdf</a:t>
            </a:r>
            <a:endParaRPr lang="en-US" sz="1600" dirty="0"/>
          </a:p>
        </p:txBody>
      </p:sp>
      <p:sp>
        <p:nvSpPr>
          <p:cNvPr id="11" name="ATS Avoid"/>
          <p:cNvSpPr/>
          <p:nvPr/>
        </p:nvSpPr>
        <p:spPr>
          <a:xfrm>
            <a:off x="6217920" y="2743200"/>
            <a:ext cx="53949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2" name="ATS Avoid circle"/>
          <p:cNvSpPr/>
          <p:nvPr/>
        </p:nvSpPr>
        <p:spPr>
          <a:xfrm>
            <a:off x="6492240" y="29260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TS Avoid icon" descr="ATS Avoi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30403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323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Avoid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35661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Tables, text boxes and multi-column templates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Icons or images in place of text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Skill bars, charts and rating stars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Important info in headers and footers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Fancy Canva designs for IT roles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Tailor Your CV in 4 Steps</a:t>
            </a:r>
            <a:endParaRPr lang="en-US" sz="3600" dirty="0"/>
          </a:p>
        </p:txBody>
      </p:sp>
      <p:sp>
        <p:nvSpPr>
          <p:cNvPr id="3" name="Read the job post circle"/>
          <p:cNvSpPr/>
          <p:nvPr/>
        </p:nvSpPr>
        <p:spPr>
          <a:xfrm>
            <a:off x="1325880" y="1737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Read the job post icon" descr="Read the job po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988820"/>
            <a:ext cx="502920" cy="502920"/>
          </a:xfrm>
          <a:prstGeom prst="rect">
            <a:avLst/>
          </a:prstGeom>
        </p:spPr>
      </p:pic>
      <p:pic>
        <p:nvPicPr>
          <p:cNvPr id="5" name="Step arrow 1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05740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Step 1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Read the job post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840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Highlight required skills, tools and responsibilities</a:t>
            </a:r>
            <a:endParaRPr lang="en-US" sz="1400" dirty="0"/>
          </a:p>
        </p:txBody>
      </p:sp>
      <p:sp>
        <p:nvSpPr>
          <p:cNvPr id="9" name="Pick keywords circle"/>
          <p:cNvSpPr/>
          <p:nvPr/>
        </p:nvSpPr>
        <p:spPr>
          <a:xfrm>
            <a:off x="4160520" y="173736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ick keywords icon" descr="Pick keywor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988820"/>
            <a:ext cx="502920" cy="502920"/>
          </a:xfrm>
          <a:prstGeom prst="rect">
            <a:avLst/>
          </a:prstGeom>
        </p:spPr>
      </p:pic>
      <p:pic>
        <p:nvPicPr>
          <p:cNvPr id="11" name="Step arrow 2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5740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2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338328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Pick keywords</a:t>
            </a:r>
            <a:endParaRPr lang="en-US" sz="2000" dirty="0"/>
          </a:p>
        </p:txBody>
      </p:sp>
      <p:sp>
        <p:nvSpPr>
          <p:cNvPr id="14" name="Text 8"/>
          <p:cNvSpPr txBox="1"/>
          <p:nvPr/>
        </p:nvSpPr>
        <p:spPr>
          <a:xfrm>
            <a:off x="3474720" y="3840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Note the exact terms: “API testing”, “JIRA”, “Agile”</a:t>
            </a:r>
            <a:endParaRPr lang="en-US" sz="1400" dirty="0"/>
          </a:p>
        </p:txBody>
      </p:sp>
      <p:sp>
        <p:nvSpPr>
          <p:cNvPr id="15" name="Edit your CV circle"/>
          <p:cNvSpPr/>
          <p:nvPr/>
        </p:nvSpPr>
        <p:spPr>
          <a:xfrm>
            <a:off x="6995160" y="173736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Edit your CV icon" descr="Edit your CV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988820"/>
            <a:ext cx="502920" cy="502920"/>
          </a:xfrm>
          <a:prstGeom prst="rect">
            <a:avLst/>
          </a:prstGeom>
        </p:spPr>
      </p:pic>
      <p:pic>
        <p:nvPicPr>
          <p:cNvPr id="17" name="Step arrow 3" descr="nex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205740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Step 3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621792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Edit your CV</a:t>
            </a:r>
            <a:endParaRPr lang="en-US" sz="2000" dirty="0"/>
          </a:p>
        </p:txBody>
      </p:sp>
      <p:sp>
        <p:nvSpPr>
          <p:cNvPr id="20" name="Text 12"/>
          <p:cNvSpPr txBox="1"/>
          <p:nvPr/>
        </p:nvSpPr>
        <p:spPr>
          <a:xfrm>
            <a:off x="6309360" y="3840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Mirror those terms in your summary, skills and bullets, honestly</a:t>
            </a:r>
            <a:endParaRPr lang="en-US" sz="1400" dirty="0"/>
          </a:p>
        </p:txBody>
      </p:sp>
      <p:sp>
        <p:nvSpPr>
          <p:cNvPr id="21" name="Proofread &amp; send circle"/>
          <p:cNvSpPr/>
          <p:nvPr/>
        </p:nvSpPr>
        <p:spPr>
          <a:xfrm>
            <a:off x="9829800" y="173736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Proofread &amp; send icon" descr="Proofread &amp; sen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60" y="1988820"/>
            <a:ext cx="502920" cy="5029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05256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Step 4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905256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Proofread &amp; send</a:t>
            </a:r>
            <a:endParaRPr lang="en-US" sz="2000" dirty="0"/>
          </a:p>
        </p:txBody>
      </p:sp>
      <p:sp>
        <p:nvSpPr>
          <p:cNvPr id="25" name="Text 16"/>
          <p:cNvSpPr txBox="1"/>
          <p:nvPr/>
        </p:nvSpPr>
        <p:spPr>
          <a:xfrm>
            <a:off x="9144000" y="3840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 spelling, links, file name, then apply</a:t>
            </a:r>
            <a:endParaRPr lang="en-US" sz="1400" dirty="0"/>
          </a:p>
        </p:txBody>
      </p:sp>
      <p:sp>
        <p:nvSpPr>
          <p:cNvPr id="26" name="Tailoring tip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7" name="Text 18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Keep a master CV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 everything, then copy and trim it for each application.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Common Mistakes That Get CVs Rejected</a:t>
            </a:r>
            <a:endParaRPr lang="en-US" sz="3600" dirty="0"/>
          </a:p>
        </p:txBody>
      </p:sp>
      <p:sp>
        <p:nvSpPr>
          <p:cNvPr id="3" name="Spelling and grammar errors"/>
          <p:cNvSpPr/>
          <p:nvPr/>
        </p:nvSpPr>
        <p:spPr>
          <a:xfrm>
            <a:off x="548640" y="15544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4" name="Spelling and grammar errors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Spelling and grammar errors icon" descr="Spelling and grammar err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83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Spelling and grammar errors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Especially painful for a QA role. Attention to detail is the job.</a:t>
            </a:r>
            <a:endParaRPr lang="en-US" sz="1400" dirty="0"/>
          </a:p>
        </p:txBody>
      </p:sp>
      <p:sp>
        <p:nvSpPr>
          <p:cNvPr id="8" name="Copied templates and summaries"/>
          <p:cNvSpPr/>
          <p:nvPr/>
        </p:nvSpPr>
        <p:spPr>
          <a:xfrm>
            <a:off x="4370832" y="15544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9" name="Copied templates and summaries circle"/>
          <p:cNvSpPr/>
          <p:nvPr/>
        </p:nvSpPr>
        <p:spPr>
          <a:xfrm>
            <a:off x="4645152" y="18288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Copied templates and summaries icon" descr="Copied templates and summar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19888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22392" y="1783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Copied templates and summaries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45152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Recruiters spot the same internet sample again and again.</a:t>
            </a:r>
            <a:endParaRPr lang="en-US" sz="1400" dirty="0"/>
          </a:p>
        </p:txBody>
      </p:sp>
      <p:sp>
        <p:nvSpPr>
          <p:cNvPr id="13" name="Duties instead of results"/>
          <p:cNvSpPr/>
          <p:nvPr/>
        </p:nvSpPr>
        <p:spPr>
          <a:xfrm>
            <a:off x="8193024" y="15544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4" name="Duties instead of results circle"/>
          <p:cNvSpPr/>
          <p:nvPr/>
        </p:nvSpPr>
        <p:spPr>
          <a:xfrm>
            <a:off x="8467344" y="18288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Duties instead of results icon" descr="Duties instead of resul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364" y="1988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44584" y="1783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Duties instead of results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467344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“Responsible for testing” says nothing. Show what changed.</a:t>
            </a:r>
            <a:endParaRPr lang="en-US" sz="1400" dirty="0"/>
          </a:p>
        </p:txBody>
      </p:sp>
      <p:sp>
        <p:nvSpPr>
          <p:cNvPr id="18" name="Messy formatting"/>
          <p:cNvSpPr/>
          <p:nvPr/>
        </p:nvSpPr>
        <p:spPr>
          <a:xfrm>
            <a:off x="548640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19" name="Messy formatting circle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Messy formatting icon" descr="Messy format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1833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3977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Messy formatting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Mixed fonts, uneven spacing, misaligned dates look careless.</a:t>
            </a:r>
            <a:endParaRPr lang="en-US" sz="1400" dirty="0"/>
          </a:p>
        </p:txBody>
      </p:sp>
      <p:sp>
        <p:nvSpPr>
          <p:cNvPr id="23" name="Irrelevant personal details"/>
          <p:cNvSpPr/>
          <p:nvPr/>
        </p:nvSpPr>
        <p:spPr>
          <a:xfrm>
            <a:off x="4370832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4" name="Irrelevant personal details circle"/>
          <p:cNvSpPr/>
          <p:nvPr/>
        </p:nvSpPr>
        <p:spPr>
          <a:xfrm>
            <a:off x="4645152" y="4023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rrelevant personal details icon" descr="Irrelevant personal detai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172" y="418338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22392" y="3977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Irrelevant personal details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645152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Religion, family, hobbies like “listening to music”.</a:t>
            </a:r>
            <a:endParaRPr lang="en-US" sz="1400" dirty="0"/>
          </a:p>
        </p:txBody>
      </p:sp>
      <p:sp>
        <p:nvSpPr>
          <p:cNvPr id="28" name="Unprofessional file or email"/>
          <p:cNvSpPr/>
          <p:nvPr/>
        </p:nvSpPr>
        <p:spPr>
          <a:xfrm>
            <a:off x="8193024" y="37490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E2240">
                <a:alpha val="12000"/>
              </a:srgbClr>
            </a:outerShdw>
          </a:effectLst>
        </p:spPr>
      </p:sp>
      <p:sp>
        <p:nvSpPr>
          <p:cNvPr id="29" name="Unprofessional file or email circle"/>
          <p:cNvSpPr/>
          <p:nvPr/>
        </p:nvSpPr>
        <p:spPr>
          <a:xfrm>
            <a:off x="8467344" y="4023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Unprofessional file or email icon" descr="Unprofessional file or emai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364" y="41833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44584" y="3977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Unprofessional file or email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467344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“CV_final_final2.docx” or a nickname email address.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Final Checklist Before You Hit Send</a:t>
            </a:r>
            <a:endParaRPr lang="en-US" sz="3600" dirty="0"/>
          </a:p>
        </p:txBody>
      </p:sp>
      <p:sp>
        <p:nvSpPr>
          <p:cNvPr id="3" name="Check 1 circle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Check 1 icon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72593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Fits on one page (fresher)</a:t>
            </a:r>
            <a:endParaRPr lang="en-US" sz="1800" dirty="0"/>
          </a:p>
        </p:txBody>
      </p:sp>
      <p:sp>
        <p:nvSpPr>
          <p:cNvPr id="6" name="Check 2 circle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Check 2 icon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59461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Contact details and links work</a:t>
            </a:r>
            <a:endParaRPr lang="en-US" sz="1800" dirty="0"/>
          </a:p>
        </p:txBody>
      </p:sp>
      <p:sp>
        <p:nvSpPr>
          <p:cNvPr id="9" name="Check 3 circle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Check 3 icon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46329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337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Summary targets this specific role</a:t>
            </a:r>
            <a:endParaRPr lang="en-US" sz="1800" dirty="0"/>
          </a:p>
        </p:txBody>
      </p:sp>
      <p:sp>
        <p:nvSpPr>
          <p:cNvPr id="12" name="Check 4 circle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heck 4 icon" descr="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33197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206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Skills match the job keywords</a:t>
            </a:r>
            <a:endParaRPr lang="en-US" sz="1800" dirty="0"/>
          </a:p>
        </p:txBody>
      </p:sp>
      <p:sp>
        <p:nvSpPr>
          <p:cNvPr id="15" name="Check 5 circle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Check 5 icon" descr="Check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5200650"/>
            <a:ext cx="251460" cy="2514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5074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bullet starts with an action verb</a:t>
            </a:r>
            <a:endParaRPr lang="en-US" sz="1800" dirty="0"/>
          </a:p>
        </p:txBody>
      </p:sp>
      <p:sp>
        <p:nvSpPr>
          <p:cNvPr id="18" name="Check 6 circle"/>
          <p:cNvSpPr/>
          <p:nvPr/>
        </p:nvSpPr>
        <p:spPr>
          <a:xfrm>
            <a:off x="621792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Check 6 icon" descr="Check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1725930"/>
            <a:ext cx="251460" cy="25146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90372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Numbers added wherever possible</a:t>
            </a:r>
            <a:endParaRPr lang="en-US" sz="1800" dirty="0"/>
          </a:p>
        </p:txBody>
      </p:sp>
      <p:sp>
        <p:nvSpPr>
          <p:cNvPr id="21" name="Check 7 circle"/>
          <p:cNvSpPr/>
          <p:nvPr/>
        </p:nvSpPr>
        <p:spPr>
          <a:xfrm>
            <a:off x="6217920" y="2468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Check 7 icon" descr="Check 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2594610"/>
            <a:ext cx="251460" cy="25146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90372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Spell-checked and read aloud once</a:t>
            </a:r>
            <a:endParaRPr lang="en-US" sz="1800" dirty="0"/>
          </a:p>
        </p:txBody>
      </p:sp>
      <p:sp>
        <p:nvSpPr>
          <p:cNvPr id="24" name="Check 8 circle"/>
          <p:cNvSpPr/>
          <p:nvPr/>
        </p:nvSpPr>
        <p:spPr>
          <a:xfrm>
            <a:off x="6217920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Check 8 icon" descr="Check 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3463290"/>
            <a:ext cx="251460" cy="25146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03720" y="3337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Consistent fonts, dates and spacing</a:t>
            </a:r>
            <a:endParaRPr lang="en-US" sz="1800" dirty="0"/>
          </a:p>
        </p:txBody>
      </p:sp>
      <p:sp>
        <p:nvSpPr>
          <p:cNvPr id="27" name="Check 9 circle"/>
          <p:cNvSpPr/>
          <p:nvPr/>
        </p:nvSpPr>
        <p:spPr>
          <a:xfrm>
            <a:off x="6217920" y="4206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Check 9 icon" descr="Check 9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4331970"/>
            <a:ext cx="251460" cy="25146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903720" y="4206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Saved as PDF with a clear file name</a:t>
            </a:r>
            <a:endParaRPr lang="en-US" sz="1800" dirty="0"/>
          </a:p>
        </p:txBody>
      </p:sp>
      <p:sp>
        <p:nvSpPr>
          <p:cNvPr id="30" name="Check 10 circle"/>
          <p:cNvSpPr/>
          <p:nvPr/>
        </p:nvSpPr>
        <p:spPr>
          <a:xfrm>
            <a:off x="6217920" y="5074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Check 10 icon" descr="Check 1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5200650"/>
            <a:ext cx="251460" cy="25146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6903720" y="5074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friend or mentor reviewed 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453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92024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You! Questions?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4069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Your CV is your first test case. Make it pass.</a:t>
            </a:r>
            <a:endParaRPr lang="en-US" sz="2000" dirty="0"/>
          </a:p>
        </p:txBody>
      </p:sp>
      <p:sp>
        <p:nvSpPr>
          <p:cNvPr id="4" name="Speaker"/>
          <p:cNvSpPr txBox="1"/>
          <p:nvPr/>
        </p:nvSpPr>
        <p:spPr>
          <a:xfrm>
            <a:off x="548640" y="4892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Jannatul Ferdous Katha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SQA Engineer, ADN Diginet Ltd. (Deployed at MetLife Bangladesh)</a:t>
            </a:r>
            <a:endParaRPr lang="en-US" sz="1600" dirty="0"/>
          </a:p>
        </p:txBody>
      </p:sp>
      <p:sp>
        <p:nvSpPr>
          <p:cNvPr id="5" name="Organizer"/>
          <p:cNvSpPr txBox="1"/>
          <p:nvPr/>
        </p:nvSpPr>
        <p:spPr>
          <a:xfrm>
            <a:off x="54864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Organized by BugBoundQA.com</a:t>
            </a:r>
            <a:endParaRPr lang="en-US" sz="1400" dirty="0"/>
          </a:p>
        </p:txBody>
      </p:sp>
      <p:sp>
        <p:nvSpPr>
          <p:cNvPr id="6" name="Decor circle"/>
          <p:cNvSpPr/>
          <p:nvPr/>
        </p:nvSpPr>
        <p:spPr>
          <a:xfrm>
            <a:off x="9052560" y="1280160"/>
            <a:ext cx="4206240" cy="4206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Question icon" descr="Qu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42316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ugBoundQA">
  <a:themeElements>
    <a:clrScheme name="BugBoundQA">
      <a:dk1>
        <a:srgbClr val="0E2240"/>
      </a:dk1>
      <a:lt1>
        <a:srgbClr val="FFFFFF"/>
      </a:lt1>
      <a:dk2>
        <a:srgbClr val="3A506B"/>
      </a:dk2>
      <a:lt2>
        <a:srgbClr val="EEF4FA"/>
      </a:lt2>
      <a:accent1>
        <a:srgbClr val="1E5AA8"/>
      </a:accent1>
      <a:accent2>
        <a:srgbClr val="1688C6"/>
      </a:accent2>
      <a:accent3>
        <a:srgbClr val="F3A712"/>
      </a:accent3>
      <a:accent4>
        <a:srgbClr val="6C8EAD"/>
      </a:accent4>
      <a:accent5>
        <a:srgbClr val="D64545"/>
      </a:accent5>
      <a:accent6>
        <a:srgbClr val="DCEBF8"/>
      </a:accent6>
      <a:hlink>
        <a:srgbClr val="1688C6"/>
      </a:hlink>
      <a:folHlink>
        <a:srgbClr val="6C8EAD"/>
      </a:folHlink>
    </a:clrScheme>
    <a:fontScheme name="BugBoundQ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BugBoundQA.com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Writing for Freshers &amp; Job Seekers</dc:title>
  <dc:subject>PptxGenJS Presentation</dc:subject>
  <dc:creator>Jannatul Ferdous Katha</dc:creator>
  <cp:lastModifiedBy>Jannatul Ferdous Katha</cp:lastModifiedBy>
  <cp:revision>1</cp:revision>
  <dcterms:created xsi:type="dcterms:W3CDTF">2026-10-27T13:02:56Z</dcterms:created>
  <dcterms:modified xsi:type="dcterms:W3CDTF">2026-10-27T13:02:56Z</dcterms:modified>
</cp:coreProperties>
</file>